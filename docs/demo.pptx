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8769" autoAdjust="0"/>
  </p:normalViewPr>
  <p:slideViewPr>
    <p:cSldViewPr snapToGrid="0">
      <p:cViewPr varScale="1">
        <p:scale>
          <a:sx n="46" d="100"/>
          <a:sy n="46" d="100"/>
        </p:scale>
        <p:origin x="2046" y="5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C909F-63CE-4B4C-ABA0-4E2BBFB8F8F8}" type="datetimeFigureOut">
              <a:rPr lang="sv-SE" smtClean="0"/>
              <a:t>2026-03-31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36024-0815-411C-8F63-55613657C7D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109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36024-0815-411C-8F63-55613657C7D0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4009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"Middag Tillsammans" som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anspeelar</a:t>
            </a: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till Skanskas "Bättre tillsammans" </a:t>
            </a:r>
            <a:br>
              <a:rPr lang="sv-SE" dirty="0"/>
            </a:b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 skall vara en lösning för att kollegor,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framförallt,de</a:t>
            </a: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 besöker våra kontor, skall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kkunna</a:t>
            </a: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träffas, socialisera över middag. Alltså när jag är på huvudkontoret skall jag kunna anmäla mig att jag är sugen på att käka ikväll. Systemet sätter ihop en eller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felra</a:t>
            </a: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kollgor</a:t>
            </a: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bokar en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restaurng</a:t>
            </a: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baserat på våra preferenser. Vi får en </a:t>
            </a:r>
            <a:r>
              <a:rPr lang="sv-S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notifieing</a:t>
            </a:r>
            <a:r>
              <a:rPr lang="sv-S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 vi skall befinna oss. </a:t>
            </a:r>
          </a:p>
          <a:p>
            <a:endParaRPr lang="sv-S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36024-0815-411C-8F63-55613657C7D0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489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380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306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9451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651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31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231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234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7835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400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421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73325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839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6546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9038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7659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4725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134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31AAA-23D4-4505-B65C-5261A4B6EFD5}" type="datetimeFigureOut">
              <a:rPr lang="sv-SE" smtClean="0"/>
              <a:t>2026-03-30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00B8E-5A1A-42C4-A150-6D12C3B0161F}" type="slidenum">
              <a:rPr lang="sv-SE" smtClean="0"/>
              <a:t>‹#›</a:t>
            </a:fld>
            <a:endParaRPr lang="sv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10A81-6247-EA5D-0C8D-852971D6D7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21375" y="6350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v-SE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5091596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niga/valuestream-os/blob/prepare-demo/docs/processes/Process.md" TargetMode="External"/><Relationship Id="rId2" Type="http://schemas.openxmlformats.org/officeDocument/2006/relationships/hyperlink" Target="https://github.com/Riniga/valuestream-os/blob/prepare-demo/README.m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Riniga/valuestream-os/blob/prepare-demo/docs/agents/business-analyst.md" TargetMode="External"/><Relationship Id="rId4" Type="http://schemas.openxmlformats.org/officeDocument/2006/relationships/hyperlink" Target="https://github.com/Riniga/valuestream-os/blob/prepare-demo/docs/RACI/RACI.m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niga/valuestream-os-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9701-A345-1977-5233-B88B4CDE6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/>
              <a:t>Valuestream</a:t>
            </a:r>
            <a:r>
              <a:rPr lang="sv-SE" dirty="0"/>
              <a:t> 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D09B9E-8598-EFE2-811F-E850B70FA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Agent Orchestration Framework for end-to-end value delivery</a:t>
            </a:r>
            <a:r>
              <a:rPr lang="sv-S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727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7140-51C2-7ED3-AF2B-048FA99C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Visa dokumentation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C027-893C-A6A2-45B9-77841023B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sv-SE" dirty="0"/>
              <a:t>Visa </a:t>
            </a:r>
            <a:r>
              <a:rPr lang="sv-SE" dirty="0">
                <a:hlinkClick r:id="rId2"/>
              </a:rPr>
              <a:t>README.md</a:t>
            </a:r>
            <a:r>
              <a:rPr lang="sv-SE" dirty="0"/>
              <a:t> – Titta på syfte och process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sv-SE" dirty="0"/>
              <a:t>Öppna </a:t>
            </a:r>
            <a:r>
              <a:rPr lang="sv-SE" dirty="0">
                <a:hlinkClick r:id="rId3"/>
              </a:rPr>
              <a:t>Processen</a:t>
            </a:r>
            <a:r>
              <a:rPr lang="sv-SE" dirty="0"/>
              <a:t> Steg för steg och för </a:t>
            </a:r>
            <a:r>
              <a:rPr lang="sv-SE" dirty="0" err="1"/>
              <a:t>personas</a:t>
            </a: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Visa </a:t>
            </a:r>
            <a:r>
              <a:rPr lang="sv-SE" dirty="0">
                <a:hlinkClick r:id="rId4"/>
              </a:rPr>
              <a:t>RACI.md</a:t>
            </a:r>
            <a:r>
              <a:rPr lang="sv-SE" dirty="0"/>
              <a:t> – </a:t>
            </a:r>
          </a:p>
          <a:p>
            <a:pPr marL="971550" lvl="1" indent="-514350">
              <a:buFont typeface="+mj-lt"/>
              <a:buAutoNum type="arabicPeriod"/>
            </a:pPr>
            <a:r>
              <a:rPr lang="sv-SE" dirty="0"/>
              <a:t>Övergripande behov -&gt; Mall</a:t>
            </a:r>
          </a:p>
          <a:p>
            <a:pPr marL="971550" lvl="1" indent="-514350">
              <a:buFont typeface="+mj-lt"/>
              <a:buAutoNum type="arabicPeriod"/>
            </a:pPr>
            <a:r>
              <a:rPr lang="sv-SE" dirty="0"/>
              <a:t>Systemlandskap -&gt; Mall, SOP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Agenter, visa </a:t>
            </a:r>
            <a:r>
              <a:rPr lang="sv-SE" dirty="0">
                <a:hlinkClick r:id="rId5"/>
              </a:rPr>
              <a:t>Business </a:t>
            </a:r>
            <a:r>
              <a:rPr lang="sv-SE" dirty="0" err="1">
                <a:hlinkClick r:id="rId5"/>
              </a:rPr>
              <a:t>Analyst</a:t>
            </a:r>
            <a:endParaRPr lang="sv-SE" dirty="0"/>
          </a:p>
          <a:p>
            <a:pPr marL="514350" indent="-514350">
              <a:buFont typeface="+mj-lt"/>
              <a:buAutoNum type="arabicPeriod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83642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3E12-80AE-7895-5DA7-177AC4786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336E-3FA6-F08E-93E7-1733982A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C535F-45AE-D51A-8747-64835A31D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v-SE" dirty="0"/>
              <a:t>Skapa ”Övergripande behov” </a:t>
            </a:r>
            <a:r>
              <a:rPr lang="sv-SE" dirty="0" err="1"/>
              <a:t>frånm</a:t>
            </a:r>
            <a:r>
              <a:rPr lang="sv-SE" dirty="0"/>
              <a:t> mallen med </a:t>
            </a:r>
            <a:r>
              <a:rPr lang="sv-SE" dirty="0" err="1"/>
              <a:t>Copilot</a:t>
            </a:r>
            <a:endParaRPr lang="sv-SE" dirty="0"/>
          </a:p>
          <a:p>
            <a:pPr marL="971550" lvl="1" indent="-514350">
              <a:buFont typeface="+mj-lt"/>
              <a:buAutoNum type="arabicPeriod"/>
            </a:pPr>
            <a:r>
              <a:rPr lang="sv-SE" dirty="0"/>
              <a:t>Prompt: Kom på ett realistiskt projekt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Visa kommandon</a:t>
            </a:r>
          </a:p>
          <a:p>
            <a:pPr marL="971550" lvl="1" indent="-514350">
              <a:buFont typeface="+mj-lt"/>
              <a:buAutoNum type="arabicPeriod"/>
            </a:pPr>
            <a:r>
              <a:rPr lang="sv-SE" dirty="0" err="1"/>
              <a:t>python</a:t>
            </a:r>
            <a:r>
              <a:rPr lang="sv-SE" dirty="0"/>
              <a:t> -m </a:t>
            </a:r>
            <a:r>
              <a:rPr lang="sv-SE" dirty="0" err="1"/>
              <a:t>src.cli.run</a:t>
            </a:r>
            <a:r>
              <a:rPr lang="sv-SE" dirty="0"/>
              <a:t> –h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python -m </a:t>
            </a:r>
            <a:r>
              <a:rPr lang="en-US" dirty="0" err="1"/>
              <a:t>src.cli.run</a:t>
            </a:r>
            <a:r>
              <a:rPr lang="en-US" dirty="0"/>
              <a:t> --run-id 001-test agents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python -m </a:t>
            </a:r>
            <a:r>
              <a:rPr lang="en-US" dirty="0" err="1"/>
              <a:t>src.cli.run</a:t>
            </a:r>
            <a:r>
              <a:rPr lang="en-US" dirty="0"/>
              <a:t> --run-id 001-test flow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python -m </a:t>
            </a:r>
            <a:r>
              <a:rPr lang="en-US" dirty="0" err="1"/>
              <a:t>src.cli.run</a:t>
            </a:r>
            <a:r>
              <a:rPr lang="en-US" dirty="0"/>
              <a:t> --run-id 001-test run</a:t>
            </a:r>
          </a:p>
          <a:p>
            <a:pPr marL="971550" lvl="1" indent="-514350">
              <a:buFont typeface="+mj-lt"/>
              <a:buAutoNum type="arabicPeriod"/>
            </a:pP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Flytta + export </a:t>
            </a:r>
            <a:r>
              <a:rPr lang="sv-SE" dirty="0" err="1"/>
              <a:t>github</a:t>
            </a:r>
            <a:endParaRPr lang="sv-SE" dirty="0"/>
          </a:p>
          <a:p>
            <a:pPr marL="514350" indent="-514350">
              <a:buFont typeface="+mj-lt"/>
              <a:buAutoNum type="arabicPeriod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09226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8511-5AD6-AD50-56D6-B83A5D3E4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8DA0-099F-8103-14B2-66E6348D7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Visa dokumentation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E7AEC-C6D2-71B2-E18F-8648DA662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t"/>
            <a:r>
              <a:rPr lang="sv-SE" sz="2400" i="1" dirty="0"/>
              <a:t>Skapa ett komplett projektkoncept baserat på följande idé: </a:t>
            </a:r>
          </a:p>
          <a:p>
            <a:pPr fontAlgn="t"/>
            <a:r>
              <a:rPr lang="sv-SE" sz="2400" i="1" dirty="0"/>
              <a:t>‘Middag Tillsammans’</a:t>
            </a:r>
            <a:r>
              <a:rPr lang="sv-SE" sz="2400" dirty="0"/>
              <a:t> (Inspirerat av Skanskas “Bättre Tillsammans”)</a:t>
            </a:r>
          </a:p>
          <a:p>
            <a:pPr fontAlgn="t"/>
            <a:r>
              <a:rPr lang="sv-SE" sz="2400" i="1" dirty="0"/>
              <a:t>En lösning där kollegor som besöker ett kontor kan anmäla intresse att äta middag med andra. </a:t>
            </a:r>
          </a:p>
          <a:p>
            <a:pPr fontAlgn="t"/>
            <a:r>
              <a:rPr lang="sv-SE" sz="2400" i="1" dirty="0"/>
              <a:t>Systemet matchar personer, bokar restaurang baserat på preferenser och skickar notiser. </a:t>
            </a:r>
          </a:p>
          <a:p>
            <a:pPr fontAlgn="t"/>
            <a:r>
              <a:rPr lang="sv-SE" sz="2400" i="1" dirty="0"/>
              <a:t>Allt för att lära känna nya kollegor, skapa spontana nätverk, göra resan roligare</a:t>
            </a:r>
          </a:p>
          <a:p>
            <a:pPr fontAlgn="t"/>
            <a:r>
              <a:rPr lang="sv-SE" sz="2400" i="1" dirty="0"/>
              <a:t>Helt enkelt, bättre tillsammans, i praktiken</a:t>
            </a:r>
          </a:p>
          <a:p>
            <a:pPr fontAlgn="t"/>
            <a:r>
              <a:rPr lang="sv-SE" sz="2400" i="1" dirty="0"/>
              <a:t>Fyll i bifogad mall fullt ut. </a:t>
            </a:r>
          </a:p>
          <a:p>
            <a:pPr fontAlgn="t"/>
            <a:r>
              <a:rPr lang="sv-SE" sz="2400" i="1" dirty="0"/>
              <a:t>Skriv tydligt, koncist och professionellt.”</a:t>
            </a:r>
          </a:p>
          <a:p>
            <a:pPr fontAlgn="t"/>
            <a:r>
              <a:rPr lang="sv-SE" sz="2400" i="1" dirty="0"/>
              <a:t>Returnera resultatet som en nedladdningsbar </a:t>
            </a:r>
            <a:r>
              <a:rPr lang="sv-SE" sz="2400" i="1" dirty="0" err="1"/>
              <a:t>markdown</a:t>
            </a:r>
            <a:r>
              <a:rPr lang="sv-SE" sz="2400" i="1" dirty="0"/>
              <a:t> fil</a:t>
            </a:r>
            <a:endParaRPr lang="sv-SE" sz="2400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67775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243C-35F3-7E92-0445-05AFF859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9109-8F47-C89C-3362-370AC4C6D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Presentera resultat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38095-A388-46A6-5EA2-5C8485385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v-SE" dirty="0"/>
              <a:t>Öppna dokument i </a:t>
            </a:r>
            <a:r>
              <a:rPr lang="sv-SE" dirty="0" err="1">
                <a:hlinkClick r:id="rId2"/>
              </a:rPr>
              <a:t>github</a:t>
            </a: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Visa dokument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sv-SE" dirty="0"/>
              <a:t>Vision och målbild</a:t>
            </a:r>
          </a:p>
          <a:p>
            <a:pPr marL="971550" lvl="1" indent="-514350">
              <a:buFont typeface="+mj-lt"/>
              <a:buAutoNum type="arabicPeriod"/>
            </a:pPr>
            <a:r>
              <a:rPr lang="sv-SE" dirty="0"/>
              <a:t>Story </a:t>
            </a:r>
            <a:r>
              <a:rPr lang="sv-SE" dirty="0" err="1"/>
              <a:t>Map</a:t>
            </a:r>
            <a:endParaRPr lang="sv-SE" dirty="0"/>
          </a:p>
          <a:p>
            <a:pPr marL="971550" lvl="1" indent="-514350">
              <a:buFont typeface="+mj-lt"/>
              <a:buAutoNum type="arabicPeriod"/>
            </a:pPr>
            <a:r>
              <a:rPr lang="sv-SE" dirty="0"/>
              <a:t>Målarkitektur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Loggar</a:t>
            </a:r>
          </a:p>
          <a:p>
            <a:pPr marL="971550" lvl="1" indent="-514350">
              <a:buFont typeface="+mj-lt"/>
              <a:buAutoNum type="arabicPeriod"/>
            </a:pPr>
            <a:r>
              <a:rPr lang="sv-SE" dirty="0" err="1"/>
              <a:t>approval_decisions</a:t>
            </a:r>
            <a:endParaRPr lang="sv-SE" dirty="0"/>
          </a:p>
          <a:p>
            <a:pPr marL="971550" lvl="1" indent="-514350">
              <a:buFont typeface="+mj-lt"/>
              <a:buAutoNum type="arabicPeriod"/>
            </a:pPr>
            <a:r>
              <a:rPr lang="sv-SE" dirty="0" err="1"/>
              <a:t>judotech-care</a:t>
            </a:r>
            <a:r>
              <a:rPr lang="sv-SE" dirty="0"/>
              <a:t>/</a:t>
            </a:r>
            <a:r>
              <a:rPr lang="sv-SE"/>
              <a:t>consultation_responses.json</a:t>
            </a:r>
            <a:endParaRPr lang="sv-SE" dirty="0"/>
          </a:p>
          <a:p>
            <a:pPr marL="971550" lvl="1" indent="-514350">
              <a:buFont typeface="+mj-lt"/>
              <a:buAutoNum type="arabicPeriod"/>
            </a:pPr>
            <a:endParaRPr lang="sv-SE" dirty="0"/>
          </a:p>
          <a:p>
            <a:pPr marL="514350" indent="-514350">
              <a:buFont typeface="+mj-lt"/>
              <a:buAutoNum type="arabicPeriod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5879770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936</TotalTime>
  <Words>326</Words>
  <Application>Microsoft Office PowerPoint</Application>
  <PresentationFormat>Widescreen</PresentationFormat>
  <Paragraphs>42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Century Gothic</vt:lpstr>
      <vt:lpstr>Vapor Trail</vt:lpstr>
      <vt:lpstr>Valuestream OS</vt:lpstr>
      <vt:lpstr>Visa dokumentation</vt:lpstr>
      <vt:lpstr>Live Demo</vt:lpstr>
      <vt:lpstr>Visa dokumentation</vt:lpstr>
      <vt:lpstr>Presentera resultat</vt:lpstr>
    </vt:vector>
  </TitlesOfParts>
  <Company>Skanska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Nisses-Gagnér, Rickard</dc:creator>
  <cp:lastModifiedBy>Nisses-Gagnér, Rickard</cp:lastModifiedBy>
  <cp:revision>2</cp:revision>
  <dcterms:created xsi:type="dcterms:W3CDTF">2026-03-30T13:22:32Z</dcterms:created>
  <dcterms:modified xsi:type="dcterms:W3CDTF">2026-03-31T05:38:15Z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e490da-fed8-48ce-ab1f-32dee818a6c1_Enabled">
    <vt:lpwstr>true</vt:lpwstr>
  </property>
  <property fmtid="{D5CDD505-2E9C-101B-9397-08002B2CF9AE}" pid="3" name="MSIP_Label_aee490da-fed8-48ce-ab1f-32dee818a6c1_SetDate">
    <vt:lpwstr>2026-03-30T13:52:25Z</vt:lpwstr>
  </property>
  <property fmtid="{D5CDD505-2E9C-101B-9397-08002B2CF9AE}" pid="4" name="MSIP_Label_aee490da-fed8-48ce-ab1f-32dee818a6c1_Method">
    <vt:lpwstr>Standard</vt:lpwstr>
  </property>
  <property fmtid="{D5CDD505-2E9C-101B-9397-08002B2CF9AE}" pid="5" name="MSIP_Label_aee490da-fed8-48ce-ab1f-32dee818a6c1_Name">
    <vt:lpwstr>General-Marking</vt:lpwstr>
  </property>
  <property fmtid="{D5CDD505-2E9C-101B-9397-08002B2CF9AE}" pid="6" name="MSIP_Label_aee490da-fed8-48ce-ab1f-32dee818a6c1_SiteId">
    <vt:lpwstr>33dab507-5210-4075-805b-f2717d8cfa74</vt:lpwstr>
  </property>
  <property fmtid="{D5CDD505-2E9C-101B-9397-08002B2CF9AE}" pid="7" name="MSIP_Label_aee490da-fed8-48ce-ab1f-32dee818a6c1_ActionId">
    <vt:lpwstr>a93f913e-0f29-4581-82ee-5881001ada0a</vt:lpwstr>
  </property>
  <property fmtid="{D5CDD505-2E9C-101B-9397-08002B2CF9AE}" pid="8" name="MSIP_Label_aee490da-fed8-48ce-ab1f-32dee818a6c1_ContentBits">
    <vt:lpwstr>1</vt:lpwstr>
  </property>
  <property fmtid="{D5CDD505-2E9C-101B-9397-08002B2CF9AE}" pid="9" name="MSIP_Label_aee490da-fed8-48ce-ab1f-32dee818a6c1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General</vt:lpwstr>
  </property>
</Properties>
</file>